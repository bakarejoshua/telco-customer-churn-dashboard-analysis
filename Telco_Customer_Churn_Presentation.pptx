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Churned</c:v>
                </c:pt>
              </c:strCache>
            </c:strRef>
          </c:tx>
          <c:spPr>
            <a:solidFill>
              <a:srgbClr val="D6454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Month-to-month</c:v>
                  </c:pt>
                  <c:pt idx="1">
                    <c:v>One year</c:v>
                  </c:pt>
                  <c:pt idx="2">
                    <c:v>Two year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1655</c:v>
                </c:pt>
                <c:pt idx="1">
                  <c:v>166</c:v>
                </c:pt>
                <c:pt idx="2">
                  <c:v>48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Churned</c:v>
                </c:pt>
              </c:strCache>
            </c:strRef>
          </c:tx>
          <c:spPr>
            <a:solidFill>
              <a:srgbClr val="FF6B2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Electronic check</c:v>
                  </c:pt>
                  <c:pt idx="1">
                    <c:v>Mailed check</c:v>
                  </c:pt>
                  <c:pt idx="2">
                    <c:v>Bank transfer</c:v>
                  </c:pt>
                  <c:pt idx="3">
                    <c:v>Credit card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1071</c:v>
                </c:pt>
                <c:pt idx="1">
                  <c:v>308</c:v>
                </c:pt>
                <c:pt idx="2">
                  <c:v>258</c:v>
                </c:pt>
                <c:pt idx="3">
                  <c:v>232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Churned</c:v>
                </c:pt>
              </c:strCache>
            </c:strRef>
          </c:tx>
          <c:spPr>
            <a:solidFill>
              <a:srgbClr val="1F88E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0–12</c:v>
                  </c:pt>
                  <c:pt idx="1">
                    <c:v>13–24</c:v>
                  </c:pt>
                  <c:pt idx="2">
                    <c:v>25–36</c:v>
                  </c:pt>
                  <c:pt idx="3">
                    <c:v>37–48</c:v>
                  </c:pt>
                  <c:pt idx="4">
                    <c:v>49–60</c:v>
                  </c:pt>
                  <c:pt idx="5">
                    <c:v>61–72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1037</c:v>
                </c:pt>
                <c:pt idx="1">
                  <c:v>294</c:v>
                </c:pt>
                <c:pt idx="2">
                  <c:v>180</c:v>
                </c:pt>
                <c:pt idx="3">
                  <c:v>145</c:v>
                </c:pt>
                <c:pt idx="4">
                  <c:v>120</c:v>
                </c:pt>
                <c:pt idx="5">
                  <c:v>93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Churned</c:v>
                </c:pt>
              </c:strCache>
            </c:strRef>
          </c:tx>
          <c:spPr>
            <a:solidFill>
              <a:srgbClr val="174A7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Fiber optic</c:v>
                  </c:pt>
                  <c:pt idx="1">
                    <c:v>DSL</c:v>
                  </c:pt>
                  <c:pt idx="2">
                    <c:v>No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1297</c:v>
                </c:pt>
                <c:pt idx="1">
                  <c:v>459</c:v>
                </c:pt>
                <c:pt idx="2">
                  <c:v>113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Churned</c:v>
                </c:pt>
              </c:strCache>
            </c:strRef>
          </c:tx>
          <c:spPr>
            <a:solidFill>
              <a:srgbClr val="D6454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No</c:v>
                  </c:pt>
                  <c:pt idx="1">
                    <c:v>Yes</c:v>
                  </c:pt>
                  <c:pt idx="2">
                    <c:v>No internet service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1446</c:v>
                </c:pt>
                <c:pt idx="1">
                  <c:v>310</c:v>
                </c:pt>
                <c:pt idx="2">
                  <c:v>113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Churned</c:v>
                </c:pt>
              </c:strCache>
            </c:strRef>
          </c:tx>
          <c:spPr>
            <a:solidFill>
              <a:srgbClr val="D6454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No</c:v>
                  </c:pt>
                  <c:pt idx="1">
                    <c:v>Yes</c:v>
                  </c:pt>
                  <c:pt idx="2">
                    <c:v>No internet service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1461</c:v>
                </c:pt>
                <c:pt idx="1">
                  <c:v>295</c:v>
                </c:pt>
                <c:pt idx="2">
                  <c:v>113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6537960"/>
            <a:ext cx="114300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chart" Target="/ppt/charts/chart6.xml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68680"/>
            <a:ext cx="6217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Telco Customer</a:t>
            </a:r>
            <a:endParaRPr lang="en-US" sz="3900" dirty="0"/>
          </a:p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Churn Analysis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658368" y="2395728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BFA"/>
                </a:solidFill>
              </a:rPr>
              <a:t>Understanding why customers are leaving — and where to focus retention efforts.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58368" y="333756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3337560"/>
            <a:ext cx="109728" cy="1051560"/>
          </a:xfrm>
          <a:prstGeom prst="rect">
            <a:avLst/>
          </a:prstGeom>
          <a:solidFill>
            <a:srgbClr val="1F88E5"/>
          </a:solidFill>
          <a:ln w="12700">
            <a:solidFill>
              <a:srgbClr val="1F88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3474720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77A"/>
                </a:solidFill>
              </a:rPr>
              <a:t>Total Customers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96112" y="373075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942"/>
                </a:solidFill>
              </a:rPr>
              <a:t>7,043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96112" y="4133088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677A"/>
                </a:solidFill>
              </a:rPr>
              <a:t>Customers in dataset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3337560" y="333756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3337560"/>
            <a:ext cx="109728" cy="105156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75304" y="3474720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77A"/>
                </a:solidFill>
              </a:rPr>
              <a:t>Churned Customers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575304" y="373075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942"/>
                </a:solidFill>
              </a:rPr>
              <a:t>1,869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75304" y="4133088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677A"/>
                </a:solidFill>
              </a:rPr>
              <a:t>Customers who left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6016752" y="333756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16752" y="3337560"/>
            <a:ext cx="109728" cy="1051560"/>
          </a:xfrm>
          <a:prstGeom prst="rect">
            <a:avLst/>
          </a:prstGeom>
          <a:solidFill>
            <a:srgbClr val="FF6B2C"/>
          </a:solidFill>
          <a:ln w="12700">
            <a:solidFill>
              <a:srgbClr val="FF6B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54496" y="3474720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77A"/>
                </a:solidFill>
              </a:rPr>
              <a:t>Churn Rate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254496" y="373075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942"/>
                </a:solidFill>
              </a:rPr>
              <a:t>26.54%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254496" y="4133088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677A"/>
                </a:solidFill>
              </a:rPr>
              <a:t>About 1 in 4 customers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8869680" y="960120"/>
            <a:ext cx="2103120" cy="2103120"/>
          </a:xfrm>
          <a:prstGeom prst="arc">
            <a:avLst/>
          </a:prstGeom>
          <a:noFill/>
          <a:ln w="2540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89720" y="1280160"/>
            <a:ext cx="1463040" cy="1463040"/>
          </a:xfrm>
          <a:prstGeom prst="arc">
            <a:avLst/>
          </a:prstGeom>
          <a:noFill/>
          <a:ln w="152400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59893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EBFA"/>
                </a:solidFill>
              </a:rPr>
              <a:t>Business Analytics Case Study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9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Statement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77A"/>
                </a:solidFill>
              </a:rPr>
              <a:t>The business needs to understand which customer groups are leaving and why.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512064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600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4A73"/>
                </a:solidFill>
              </a:rPr>
              <a:t>Core business question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1993392"/>
            <a:ext cx="443484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2942"/>
                </a:solidFill>
              </a:rPr>
              <a:t>Why are customers leaving the company, and which factors contribute most to customer churn?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60120" y="3703320"/>
            <a:ext cx="4434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4A73"/>
                </a:solidFill>
              </a:rPr>
              <a:t>Business impact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4069080"/>
            <a:ext cx="4480560" cy="1097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400" dirty="0">
                <a:solidFill>
                  <a:srgbClr val="1F2937"/>
                </a:solidFill>
              </a:rPr>
              <a:t>Lost revenue from customers who cancel.</a:t>
            </a:r>
            <a:endParaRPr lang="en-US" sz="1400" dirty="0"/>
          </a:p>
          <a:p>
            <a:r>
              <a:rPr lang="en-US" sz="1400" dirty="0">
                <a:solidFill>
                  <a:srgbClr val="1F2937"/>
                </a:solidFill>
              </a:rPr>
              <a:t>Higher cost to replace customers who leave.</a:t>
            </a:r>
            <a:endParaRPr lang="en-US" sz="1400" dirty="0"/>
          </a:p>
          <a:p>
            <a:r>
              <a:rPr lang="en-US" sz="1400" dirty="0">
                <a:solidFill>
                  <a:srgbClr val="1F2937"/>
                </a:solidFill>
              </a:rPr>
              <a:t>Need to focus retention on the highest-risk groups.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1508760"/>
            <a:ext cx="4480560" cy="3474720"/>
          </a:xfrm>
          <a:prstGeom prst="roundRect">
            <a:avLst>
              <a:gd name="adj" fmla="val 2105"/>
            </a:avLst>
          </a:prstGeom>
          <a:solidFill>
            <a:srgbClr val="EDF6FF"/>
          </a:solidFill>
          <a:ln w="12700">
            <a:solidFill>
              <a:srgbClr val="B9D8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20840" y="18745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4A73"/>
                </a:solidFill>
              </a:rPr>
              <a:t>Analysis goals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720840" y="2331720"/>
            <a:ext cx="3794760" cy="1508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500" dirty="0">
                <a:solidFill>
                  <a:srgbClr val="1F2937"/>
                </a:solidFill>
              </a:rPr>
              <a:t>Measure overall churn.</a:t>
            </a:r>
            <a:endParaRPr lang="en-US" sz="1500" dirty="0"/>
          </a:p>
          <a:p>
            <a:r>
              <a:rPr lang="en-US" sz="1500" dirty="0">
                <a:solidFill>
                  <a:srgbClr val="1F2937"/>
                </a:solidFill>
              </a:rPr>
              <a:t>Compare churn across contract, payment, service, and tenure groups.</a:t>
            </a:r>
            <a:endParaRPr lang="en-US" sz="1500" dirty="0"/>
          </a:p>
          <a:p>
            <a:r>
              <a:rPr lang="en-US" sz="1500" dirty="0">
                <a:solidFill>
                  <a:srgbClr val="1F2937"/>
                </a:solidFill>
              </a:rPr>
              <a:t>Identify practical actions to reduce customer loss.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720840" y="42062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0F2942"/>
                </a:solidFill>
              </a:rPr>
              <a:t>Outcome: a clear retention plan based on the strongest churn signals.</a:t>
            </a:r>
            <a:endParaRPr lang="en-US" sz="1280" dirty="0"/>
          </a:p>
        </p:txBody>
      </p:sp>
      <p:sp>
        <p:nvSpPr>
          <p:cNvPr id="13" name="Text 11"/>
          <p:cNvSpPr/>
          <p:nvPr/>
        </p:nvSpPr>
        <p:spPr>
          <a:xfrm>
            <a:off x="548640" y="656539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Telco Customer Churn Analysis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9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 Overview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77A"/>
                </a:solidFill>
              </a:rPr>
              <a:t>Each record represents one telco customer and whether they stayed or left.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23444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234440"/>
            <a:ext cx="109728" cy="1051560"/>
          </a:xfrm>
          <a:prstGeom prst="rect">
            <a:avLst/>
          </a:prstGeom>
          <a:solidFill>
            <a:srgbClr val="1F88E5"/>
          </a:solidFill>
          <a:ln w="12700">
            <a:solidFill>
              <a:srgbClr val="1F88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23544" y="137160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77A"/>
                </a:solidFill>
              </a:rPr>
              <a:t>Records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23544" y="162763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942"/>
                </a:solidFill>
              </a:rPr>
              <a:t>7,043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23544" y="202996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677A"/>
                </a:solidFill>
              </a:rPr>
              <a:t>Customer rows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3246120" y="123444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234440"/>
            <a:ext cx="109728" cy="1051560"/>
          </a:xfrm>
          <a:prstGeom prst="rect">
            <a:avLst/>
          </a:prstGeom>
          <a:solidFill>
            <a:srgbClr val="174A73"/>
          </a:solidFill>
          <a:ln w="12700">
            <a:solidFill>
              <a:srgbClr val="174A7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83864" y="137160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77A"/>
                </a:solidFill>
              </a:rPr>
              <a:t>Columns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483864" y="162763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942"/>
                </a:solidFill>
              </a:rPr>
              <a:t>21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483864" y="202996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677A"/>
                </a:solidFill>
              </a:rPr>
              <a:t>Customer and service fields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5806440" y="123444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806440" y="1234440"/>
            <a:ext cx="109728" cy="105156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44184" y="137160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77A"/>
                </a:solidFill>
              </a:rPr>
              <a:t>Target field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044184" y="162763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942"/>
                </a:solidFill>
              </a:rPr>
              <a:t>Churn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044184" y="202996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677A"/>
                </a:solidFill>
              </a:rPr>
              <a:t>Yes = left, No = retained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8366760" y="123444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366760" y="1234440"/>
            <a:ext cx="109728" cy="1051560"/>
          </a:xfrm>
          <a:prstGeom prst="rect">
            <a:avLst/>
          </a:prstGeom>
          <a:solidFill>
            <a:srgbClr val="FF6B2C"/>
          </a:solidFill>
          <a:ln w="12700">
            <a:solidFill>
              <a:srgbClr val="FF6B2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04504" y="137160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77A"/>
                </a:solidFill>
              </a:rPr>
              <a:t>Main KPI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604504" y="162763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942"/>
                </a:solidFill>
              </a:rPr>
              <a:t>26.54%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604504" y="202996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677A"/>
                </a:solidFill>
              </a:rPr>
              <a:t>Overall churn rate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731520" y="26974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4A73"/>
                </a:solidFill>
              </a:rPr>
              <a:t>Key fields used in the analysis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85800" y="3090672"/>
            <a:ext cx="525780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0120" y="3364992"/>
            <a:ext cx="4663440" cy="1600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340" dirty="0">
                <a:solidFill>
                  <a:srgbClr val="1F2937"/>
                </a:solidFill>
              </a:rPr>
              <a:t>Customer profile: gender, senior citizen, partner, dependents.</a:t>
            </a:r>
            <a:endParaRPr lang="en-US" sz="1340" dirty="0"/>
          </a:p>
          <a:p>
            <a:r>
              <a:rPr lang="en-US" sz="1340" dirty="0">
                <a:solidFill>
                  <a:srgbClr val="1F2937"/>
                </a:solidFill>
              </a:rPr>
              <a:t>Services: internet service, online security, tech support.</a:t>
            </a:r>
            <a:endParaRPr lang="en-US" sz="1340" dirty="0"/>
          </a:p>
          <a:p>
            <a:r>
              <a:rPr lang="en-US" sz="1340" dirty="0">
                <a:solidFill>
                  <a:srgbClr val="1F2937"/>
                </a:solidFill>
              </a:rPr>
              <a:t>Account: tenure, contract type, payment method, paperless billing.</a:t>
            </a:r>
            <a:endParaRPr lang="en-US" sz="1340" dirty="0"/>
          </a:p>
          <a:p>
            <a:r>
              <a:rPr lang="en-US" sz="1340" dirty="0">
                <a:solidFill>
                  <a:srgbClr val="1F2937"/>
                </a:solidFill>
              </a:rPr>
              <a:t>Charges: monthly charges and total charges.</a:t>
            </a:r>
            <a:endParaRPr lang="en-US" sz="1340" dirty="0"/>
          </a:p>
        </p:txBody>
      </p:sp>
      <p:sp>
        <p:nvSpPr>
          <p:cNvPr id="27" name="Text 25"/>
          <p:cNvSpPr/>
          <p:nvPr/>
        </p:nvSpPr>
        <p:spPr>
          <a:xfrm>
            <a:off x="6492240" y="26974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4A73"/>
                </a:solidFill>
              </a:rPr>
              <a:t>Data preparation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446520" y="3090672"/>
            <a:ext cx="484632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20840" y="3364992"/>
            <a:ext cx="4343400" cy="1600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340" dirty="0">
                <a:solidFill>
                  <a:srgbClr val="1F2937"/>
                </a:solidFill>
              </a:rPr>
              <a:t>Checked for missing values and format issues.</a:t>
            </a:r>
            <a:endParaRPr lang="en-US" sz="1340" dirty="0"/>
          </a:p>
          <a:p>
            <a:r>
              <a:rPr lang="en-US" sz="1340" dirty="0">
                <a:solidFill>
                  <a:srgbClr val="1F2937"/>
                </a:solidFill>
              </a:rPr>
              <a:t>Created a customer status field: churned vs retained.</a:t>
            </a:r>
            <a:endParaRPr lang="en-US" sz="1340" dirty="0"/>
          </a:p>
          <a:p>
            <a:r>
              <a:rPr lang="en-US" sz="1340" dirty="0">
                <a:solidFill>
                  <a:srgbClr val="1F2937"/>
                </a:solidFill>
              </a:rPr>
              <a:t>Grouped tenure into ranges to compare new and long-term customers.</a:t>
            </a:r>
            <a:endParaRPr lang="en-US" sz="1340" dirty="0"/>
          </a:p>
          <a:p>
            <a:r>
              <a:rPr lang="en-US" sz="1340" dirty="0">
                <a:solidFill>
                  <a:srgbClr val="1F2937"/>
                </a:solidFill>
              </a:rPr>
              <a:t>Created measures for churn rate, churned customers, and average charges.</a:t>
            </a:r>
            <a:endParaRPr lang="en-US" sz="1340" dirty="0"/>
          </a:p>
        </p:txBody>
      </p:sp>
      <p:sp>
        <p:nvSpPr>
          <p:cNvPr id="30" name="Text 28"/>
          <p:cNvSpPr/>
          <p:nvPr/>
        </p:nvSpPr>
        <p:spPr>
          <a:xfrm>
            <a:off x="548640" y="656539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Telco Customer Churn Analysis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9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Visualizations: Dashboard Overview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77A"/>
                </a:solidFill>
              </a:rPr>
              <a:t>The dashboard summarizes churn performance and shows where customer loss is concentrated.</a:t>
            </a:r>
            <a:endParaRPr lang="en-US" sz="1150" dirty="0"/>
          </a:p>
        </p:txBody>
      </p:sp>
      <p:pic>
        <p:nvPicPr>
          <p:cNvPr id="4" name="Image 0" descr="/mnt/data/Screenshot 2026-06-07 094817.png">    </p:cNvPr>
          <p:cNvPicPr>
            <a:picLocks noChangeAspect="1"/>
          </p:cNvPicPr>
          <p:nvPr/>
        </p:nvPicPr>
        <p:blipFill>
          <a:blip r:embed="rId1"/>
          <a:srcRect l="1059" r="1059" t="0" b="0"/>
          <a:stretch/>
        </p:blipFill>
        <p:spPr>
          <a:xfrm>
            <a:off x="502920" y="1143000"/>
            <a:ext cx="6995160" cy="4434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818120" y="1143000"/>
            <a:ext cx="3703320" cy="443484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092440" y="144475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4A73"/>
                </a:solidFill>
              </a:rPr>
              <a:t>What the dashboard tells us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092440" y="1874520"/>
            <a:ext cx="3063240" cy="2377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300" dirty="0">
                <a:solidFill>
                  <a:srgbClr val="1F2937"/>
                </a:solidFill>
              </a:rPr>
              <a:t>Overall churn is 26.54%.</a:t>
            </a:r>
            <a:endParaRPr lang="en-US" sz="1300" dirty="0"/>
          </a:p>
          <a:p>
            <a:r>
              <a:rPr lang="en-US" sz="1300" dirty="0">
                <a:solidFill>
                  <a:srgbClr val="1F2937"/>
                </a:solidFill>
              </a:rPr>
              <a:t>Month-to-month contracts have the largest churn count.</a:t>
            </a:r>
            <a:endParaRPr lang="en-US" sz="1300" dirty="0"/>
          </a:p>
          <a:p>
            <a:r>
              <a:rPr lang="en-US" sz="1300" dirty="0">
                <a:solidFill>
                  <a:srgbClr val="1F2937"/>
                </a:solidFill>
              </a:rPr>
              <a:t>Electronic check users are a high-risk payment group.</a:t>
            </a:r>
            <a:endParaRPr lang="en-US" sz="1300" dirty="0"/>
          </a:p>
          <a:p>
            <a:r>
              <a:rPr lang="en-US" sz="1300" dirty="0">
                <a:solidFill>
                  <a:srgbClr val="1F2937"/>
                </a:solidFill>
              </a:rPr>
              <a:t>Fiber optic, no tech support, and no online security are strong churn signals.</a:t>
            </a:r>
            <a:endParaRPr lang="en-US" sz="1300" dirty="0"/>
          </a:p>
          <a:p>
            <a:r>
              <a:rPr lang="en-US" sz="1300" dirty="0">
                <a:solidFill>
                  <a:srgbClr val="1F2937"/>
                </a:solidFill>
              </a:rPr>
              <a:t>New customers in the first 12 months leave most often.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092440" y="464515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0F2942"/>
                </a:solidFill>
              </a:rPr>
              <a:t>These visuals help stakeholders move from “how many left” to “which groups need action first.”</a:t>
            </a:r>
            <a:endParaRPr lang="en-US" sz="1220" dirty="0"/>
          </a:p>
        </p:txBody>
      </p:sp>
      <p:sp>
        <p:nvSpPr>
          <p:cNvPr id="9" name="Text 6"/>
          <p:cNvSpPr/>
          <p:nvPr/>
        </p:nvSpPr>
        <p:spPr>
          <a:xfrm>
            <a:off x="548640" y="656539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Telco Customer Churn Analysis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9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Major Churn Drivers: Contract, Payment, and Tenure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77A"/>
                </a:solidFill>
              </a:rPr>
              <a:t>These three areas reveal the clearest patterns behind customer churn.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170432"/>
            <a:ext cx="3520440" cy="434340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89304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4A73"/>
                </a:solidFill>
              </a:rPr>
              <a:t>Churned Customers by Contract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960120" y="1645920"/>
          <a:ext cx="2834640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4343400" y="1170432"/>
            <a:ext cx="3520440" cy="434340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26280" y="1289304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4A73"/>
                </a:solidFill>
              </a:rPr>
              <a:t>Churned Customers by Payment Method</a:t>
            </a:r>
            <a:endParaRPr lang="en-US" sz="110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4709160" y="1645920"/>
          <a:ext cx="2834640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Shape 6"/>
          <p:cNvSpPr/>
          <p:nvPr/>
        </p:nvSpPr>
        <p:spPr>
          <a:xfrm>
            <a:off x="8092440" y="1170432"/>
            <a:ext cx="3520440" cy="434340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275320" y="1289304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4A73"/>
                </a:solidFill>
              </a:rPr>
              <a:t>Churned Customers by Tenure Group</a:t>
            </a:r>
            <a:endParaRPr lang="en-US" sz="1100" dirty="0"/>
          </a:p>
        </p:txBody>
      </p:sp>
      <p:graphicFrame>
        <p:nvGraphicFramePr>
          <p:cNvPr id="12" name="Chart 2" descr=""/>
          <p:cNvGraphicFramePr/>
          <p:nvPr/>
        </p:nvGraphicFramePr>
        <p:xfrm>
          <a:off x="8366760" y="1645920"/>
          <a:ext cx="2971800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Text 8"/>
          <p:cNvSpPr/>
          <p:nvPr/>
        </p:nvSpPr>
        <p:spPr>
          <a:xfrm>
            <a:off x="685800" y="580644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942"/>
                </a:solidFill>
              </a:rPr>
              <a:t>Simple takeaway: churn is highest among customers who are less committed, use electronic check, and are still early in their customer journey.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548640" y="656539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Telco Customer Churn Analysis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9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Major Churn Drivers: Service Experience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77A"/>
                </a:solidFill>
              </a:rPr>
              <a:t>Customers without support or protection services are more likely to leave.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143000"/>
            <a:ext cx="3474720" cy="429768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26187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4A73"/>
                </a:solidFill>
              </a:rPr>
              <a:t>Churned by Internet Service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987552" y="1664208"/>
          <a:ext cx="283464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4434840" y="1143000"/>
            <a:ext cx="3474720" cy="429768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617720" y="126187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4A73"/>
                </a:solidFill>
              </a:rPr>
              <a:t>Churned by Tech Support</a:t>
            </a:r>
            <a:endParaRPr lang="en-US" sz="110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4800600" y="1664208"/>
          <a:ext cx="274320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Shape 6"/>
          <p:cNvSpPr/>
          <p:nvPr/>
        </p:nvSpPr>
        <p:spPr>
          <a:xfrm>
            <a:off x="8183880" y="1143000"/>
            <a:ext cx="3474720" cy="429768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366760" y="126187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4A73"/>
                </a:solidFill>
              </a:rPr>
              <a:t>Churned by Online Security</a:t>
            </a:r>
            <a:endParaRPr lang="en-US" sz="1100" dirty="0"/>
          </a:p>
        </p:txBody>
      </p:sp>
      <p:graphicFrame>
        <p:nvGraphicFramePr>
          <p:cNvPr id="12" name="Chart 2" descr=""/>
          <p:cNvGraphicFramePr/>
          <p:nvPr/>
        </p:nvGraphicFramePr>
        <p:xfrm>
          <a:off x="8549640" y="1664208"/>
          <a:ext cx="274320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Text 8"/>
          <p:cNvSpPr/>
          <p:nvPr/>
        </p:nvSpPr>
        <p:spPr>
          <a:xfrm>
            <a:off x="868680" y="580644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942"/>
                </a:solidFill>
              </a:rPr>
              <a:t>Service takeaway: churn is concentrated among fiber optic customers and customers without tech support or online security.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548640" y="656539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Telco Customer Churn Analysis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9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Major Findings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77A"/>
                </a:solidFill>
              </a:rPr>
              <a:t>The data shows a clear pattern of who is leaving and why it matters.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234440"/>
            <a:ext cx="30632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13807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4A73"/>
                </a:solidFill>
              </a:rPr>
              <a:t>Churn is significant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50392" y="1737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64545"/>
                </a:solidFill>
              </a:rPr>
              <a:t>26.54% churn rate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50392" y="216712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</a:rPr>
              <a:t>About one in four customers have left the company.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4160520" y="1234440"/>
            <a:ext cx="30632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25112" y="13807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4A73"/>
                </a:solidFill>
              </a:rPr>
              <a:t>Contract is the strongest signal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325112" y="1737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64545"/>
                </a:solidFill>
              </a:rPr>
              <a:t>1,655 month-to-month churned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325112" y="216712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</a:rPr>
              <a:t>Customers without long-term contracts are easier to lose.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7635240" y="1234440"/>
            <a:ext cx="30632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99832" y="13807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4A73"/>
                </a:solidFill>
              </a:rPr>
              <a:t>Early-life churn is high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799832" y="1737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64545"/>
                </a:solidFill>
              </a:rPr>
              <a:t>1,037 churned in 0–12 months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799832" y="216712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</a:rPr>
              <a:t>The first year is a critical period for retention.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685800" y="3657600"/>
            <a:ext cx="30632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" y="380390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4A73"/>
                </a:solidFill>
              </a:rPr>
              <a:t>Support matters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50392" y="4160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2C"/>
                </a:solidFill>
              </a:rPr>
              <a:t>1,446 churned with no tech support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50392" y="459028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</a:rPr>
              <a:t>Customers without technical support are more likely to leave.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4160520" y="3657600"/>
            <a:ext cx="30632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25112" y="380390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4A73"/>
                </a:solidFill>
              </a:rPr>
              <a:t>Price pressure is visible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325112" y="4160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2C"/>
                </a:solidFill>
              </a:rPr>
              <a:t>$74.44 average monthly charge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325112" y="459028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</a:rPr>
              <a:t>Churned customers pay more than retained customers on average.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7635240" y="3657600"/>
            <a:ext cx="30632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99832" y="380390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4A73"/>
                </a:solidFill>
              </a:rPr>
              <a:t>Service experience needs review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799832" y="4160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2C"/>
                </a:solidFill>
              </a:rPr>
              <a:t>1,297 fiber optic churned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799832" y="459028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F2937"/>
                </a:solidFill>
              </a:rPr>
              <a:t>Fiber optic customers are the largest churn group by internet service.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548640" y="656539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Telco Customer Churn Analysis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29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Recommendations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77A"/>
                </a:solidFill>
              </a:rPr>
              <a:t>Focus retention efforts on the highest-risk customer groups first.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85800" y="12344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4A73"/>
                </a:solidFill>
              </a:rPr>
              <a:t>Priority actions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1691640"/>
            <a:ext cx="5257800" cy="3566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400" dirty="0">
                <a:solidFill>
                  <a:srgbClr val="1F2937"/>
                </a:solidFill>
              </a:rPr>
              <a:t>Offer incentives for month-to-month customers to move to one-year or two-year plans.</a:t>
            </a:r>
            <a:endParaRPr lang="en-US" sz="1400" dirty="0"/>
          </a:p>
          <a:p>
            <a:r>
              <a:rPr lang="en-US" sz="1400" dirty="0">
                <a:solidFill>
                  <a:srgbClr val="1F2937"/>
                </a:solidFill>
              </a:rPr>
              <a:t>Create a first-year retention program with welcome calls, check-ins, and simple service guides.</a:t>
            </a:r>
            <a:endParaRPr lang="en-US" sz="1400" dirty="0"/>
          </a:p>
          <a:p>
            <a:r>
              <a:rPr lang="en-US" sz="1400" dirty="0">
                <a:solidFill>
                  <a:srgbClr val="1F2937"/>
                </a:solidFill>
              </a:rPr>
              <a:t>Review monthly pricing for high-charge customers and provide better-value bundles.</a:t>
            </a:r>
            <a:endParaRPr lang="en-US" sz="1400" dirty="0"/>
          </a:p>
          <a:p>
            <a:r>
              <a:rPr lang="en-US" sz="1400" dirty="0">
                <a:solidFill>
                  <a:srgbClr val="1F2937"/>
                </a:solidFill>
              </a:rPr>
              <a:t>Investigate fiber optic complaints, speed issues, and customer expectations.</a:t>
            </a:r>
            <a:endParaRPr lang="en-US" sz="1400" dirty="0"/>
          </a:p>
          <a:p>
            <a:r>
              <a:rPr lang="en-US" sz="1400" dirty="0">
                <a:solidFill>
                  <a:srgbClr val="1F2937"/>
                </a:solidFill>
              </a:rPr>
              <a:t>Promote tech support and online security as value-added services.</a:t>
            </a:r>
            <a:endParaRPr lang="en-US" sz="1400" dirty="0"/>
          </a:p>
          <a:p>
            <a:r>
              <a:rPr lang="en-US" sz="1400" dirty="0">
                <a:solidFill>
                  <a:srgbClr val="1F2937"/>
                </a:solidFill>
              </a:rPr>
              <a:t>Encourage more stable payment options where appropriate.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537960" y="1234440"/>
            <a:ext cx="4709160" cy="4251960"/>
          </a:xfrm>
          <a:prstGeom prst="roundRect">
            <a:avLst>
              <a:gd name="adj" fmla="val 1720"/>
            </a:avLst>
          </a:prstGeom>
          <a:solidFill>
            <a:srgbClr val="EDF6FF"/>
          </a:solidFill>
          <a:ln w="12700">
            <a:solidFill>
              <a:srgbClr val="B9D8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0" y="16002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4A73"/>
                </a:solidFill>
              </a:rPr>
              <a:t>Suggested retention focus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0" y="2148840"/>
            <a:ext cx="320040" cy="320040"/>
          </a:xfrm>
          <a:prstGeom prst="rect">
            <a:avLst/>
          </a:prstGeom>
          <a:solidFill>
            <a:srgbClr val="D645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0" y="218541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942"/>
                </a:solidFill>
              </a:rPr>
              <a:t>Month-to-month customers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858000" y="2880360"/>
            <a:ext cx="320040" cy="320040"/>
          </a:xfrm>
          <a:prstGeom prst="rect">
            <a:avLst/>
          </a:prstGeom>
          <a:solidFill>
            <a:srgbClr val="FF6B2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0" y="291693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942"/>
                </a:solidFill>
              </a:rPr>
              <a:t>New customers in 0–12 months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858000" y="3611880"/>
            <a:ext cx="320040" cy="320040"/>
          </a:xfrm>
          <a:prstGeom prst="rect">
            <a:avLst/>
          </a:prstGeom>
          <a:solidFill>
            <a:srgbClr val="174A7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0" y="364845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942"/>
                </a:solidFill>
              </a:rPr>
              <a:t>Fiber optic customers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858000" y="4343400"/>
            <a:ext cx="320040" cy="320040"/>
          </a:xfrm>
          <a:prstGeom prst="rect">
            <a:avLst/>
          </a:prstGeom>
          <a:solidFill>
            <a:srgbClr val="2E7D3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0" y="437997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942"/>
                </a:solidFill>
              </a:rPr>
              <a:t>Customers without tech support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48640" y="656539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</a:rPr>
              <a:t>Telco Customer Churn Analysis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9436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Conclusion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13232" y="123444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CEBFA"/>
                </a:solidFill>
              </a:rPr>
              <a:t>The business can reduce churn by acting early, improving value, and supporting high-risk groups.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77240" y="2148840"/>
            <a:ext cx="3383280" cy="2331720"/>
          </a:xfrm>
          <a:prstGeom prst="roundRect">
            <a:avLst>
              <a:gd name="adj" fmla="val 3137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242316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4A73"/>
                </a:solidFill>
              </a:rPr>
              <a:t>Main insight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51560" y="2852928"/>
            <a:ext cx="283464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2942"/>
                </a:solidFill>
              </a:rPr>
              <a:t>Customers leaving are mainly new, month-to-month, paying higher charges, and missing support services.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434840" y="2148840"/>
            <a:ext cx="3383280" cy="2331720"/>
          </a:xfrm>
          <a:prstGeom prst="roundRect">
            <a:avLst>
              <a:gd name="adj" fmla="val 3137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09160" y="242316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4A73"/>
                </a:solidFill>
              </a:rPr>
              <a:t>Business action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09160" y="2852928"/>
            <a:ext cx="283464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2942"/>
                </a:solidFill>
              </a:rPr>
              <a:t>Build retention campaigns around contract upgrades, first-year support, pricing reviews, and better service help.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092440" y="2148840"/>
            <a:ext cx="3383280" cy="2331720"/>
          </a:xfrm>
          <a:prstGeom prst="roundRect">
            <a:avLst>
              <a:gd name="adj" fmla="val 3137"/>
            </a:avLst>
          </a:prstGeom>
          <a:solidFill>
            <a:srgbClr val="FFFFFF">
              <a:alpha val="9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66760" y="242316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4A73"/>
                </a:solidFill>
              </a:rPr>
              <a:t>Expected impact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366760" y="2852928"/>
            <a:ext cx="283464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2942"/>
                </a:solidFill>
              </a:rPr>
              <a:t>Targeted action can reduce avoidable customer loss and protect recurring revenue.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77240" y="59253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Thank you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AnalystLab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Telco Customer Churn Analysis</dc:title>
  <dc:subject>Telco Customer Churn Business Analytics Case Study</dc:subject>
  <dc:creator>OpenAI</dc:creator>
  <cp:lastModifiedBy>OpenAI</cp:lastModifiedBy>
  <cp:revision>1</cp:revision>
  <dcterms:created xsi:type="dcterms:W3CDTF">2026-06-07T08:53:43Z</dcterms:created>
  <dcterms:modified xsi:type="dcterms:W3CDTF">2026-06-07T08:53:43Z</dcterms:modified>
</cp:coreProperties>
</file>